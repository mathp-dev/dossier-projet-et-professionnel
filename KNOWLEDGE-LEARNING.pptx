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3" r:id="rId10"/>
    <p:sldId id="264" r:id="rId11"/>
    <p:sldId id="268" r:id="rId12"/>
    <p:sldId id="265" r:id="rId13"/>
    <p:sldId id="266" r:id="rId14"/>
  </p:sldIdLst>
  <p:sldSz cx="14630400" cy="8229600"/>
  <p:notesSz cx="8229600" cy="146304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Montserrat" panose="020B0604020202020204" charset="0"/>
      <p:regular r:id="rId20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3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8959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3999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4358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7032" y="2067339"/>
            <a:ext cx="5413368" cy="332154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Text 0"/>
          <p:cNvSpPr/>
          <p:nvPr/>
        </p:nvSpPr>
        <p:spPr>
          <a:xfrm>
            <a:off x="793790" y="2841188"/>
            <a:ext cx="7241977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KNOWLEDGE LEARNING</a:t>
            </a:r>
            <a:endParaRPr lang="en-US" sz="5100" dirty="0"/>
          </a:p>
        </p:txBody>
      </p:sp>
      <p:sp>
        <p:nvSpPr>
          <p:cNvPr id="5" name="Text 1"/>
          <p:cNvSpPr/>
          <p:nvPr/>
        </p:nvSpPr>
        <p:spPr>
          <a:xfrm>
            <a:off x="793790" y="3779639"/>
            <a:ext cx="5637490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Plateforme E-Learning &amp; E-Commerce</a:t>
            </a:r>
            <a:endParaRPr lang="en-US" sz="2550" dirty="0"/>
          </a:p>
        </p:txBody>
      </p:sp>
      <p:sp>
        <p:nvSpPr>
          <p:cNvPr id="6" name="Text 2"/>
          <p:cNvSpPr/>
          <p:nvPr/>
        </p:nvSpPr>
        <p:spPr>
          <a:xfrm>
            <a:off x="793790" y="4543663"/>
            <a:ext cx="7556421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Présenté par Mathieu P, Projet Backend Orienté Objet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793790" y="5093613"/>
            <a:ext cx="7556421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Février 2026</a:t>
            </a:r>
            <a:endParaRPr lang="en-US" sz="17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400651"/>
            <a:ext cx="1087279" cy="371832"/>
          </a:xfrm>
          <a:prstGeom prst="roundRect">
            <a:avLst>
              <a:gd name="adj" fmla="val 20497"/>
            </a:avLst>
          </a:prstGeom>
          <a:solidFill>
            <a:srgbClr val="FFE0CC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468636"/>
            <a:ext cx="815102" cy="235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AGENDA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863209"/>
            <a:ext cx="6734651" cy="678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Plan de Présentation Détaillé</a:t>
            </a:r>
            <a:endParaRPr lang="en-US" sz="4100" dirty="0"/>
          </a:p>
        </p:txBody>
      </p:sp>
      <p:sp>
        <p:nvSpPr>
          <p:cNvPr id="5" name="Text 3"/>
          <p:cNvSpPr/>
          <p:nvPr/>
        </p:nvSpPr>
        <p:spPr>
          <a:xfrm>
            <a:off x="793790" y="2881551"/>
            <a:ext cx="226814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arcellus Light" pitchFamily="34" charset="0"/>
                <a:ea typeface="Marcellus Light" pitchFamily="34" charset="-122"/>
                <a:cs typeface="Marcellus Light" pitchFamily="34" charset="-120"/>
              </a:rPr>
              <a:t>01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93790" y="3247906"/>
            <a:ext cx="6407944" cy="30480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7" name="Text 5"/>
          <p:cNvSpPr/>
          <p:nvPr/>
        </p:nvSpPr>
        <p:spPr>
          <a:xfrm>
            <a:off x="793790" y="3422213"/>
            <a:ext cx="3311128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Contexte et Périmètre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793790" y="3982164"/>
            <a:ext cx="6407944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Présentation de l'entreprise Knowledge, ses objectifs stratégiques et le cahier des charges fonctionnel.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428548" y="2881551"/>
            <a:ext cx="226814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arcellus Light" pitchFamily="34" charset="0"/>
                <a:ea typeface="Marcellus Light" pitchFamily="34" charset="-122"/>
                <a:cs typeface="Marcellus Light" pitchFamily="34" charset="-120"/>
              </a:rPr>
              <a:t>02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428548" y="3247906"/>
            <a:ext cx="6408063" cy="30480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11" name="Text 9"/>
          <p:cNvSpPr/>
          <p:nvPr/>
        </p:nvSpPr>
        <p:spPr>
          <a:xfrm>
            <a:off x="7428548" y="3422213"/>
            <a:ext cx="3323630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Conception Technique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7428548" y="3982164"/>
            <a:ext cx="6408063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Modélisation de la base de données, choix de la stack technique et architecture des composants backend.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93790" y="4968597"/>
            <a:ext cx="226814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arcellus Light" pitchFamily="34" charset="0"/>
                <a:ea typeface="Marcellus Light" pitchFamily="34" charset="-122"/>
                <a:cs typeface="Marcellus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93790" y="5334953"/>
            <a:ext cx="6407944" cy="30480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15" name="Text 13"/>
          <p:cNvSpPr/>
          <p:nvPr/>
        </p:nvSpPr>
        <p:spPr>
          <a:xfrm>
            <a:off x="793790" y="5509260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Intégration et Qualité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793790" y="6069211"/>
            <a:ext cx="6407944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Détails sur l'intégration Stripe, la stratégie de tests, les défis relevés et les évolutions futures.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428548" y="4968597"/>
            <a:ext cx="226814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arcellus Light" pitchFamily="34" charset="0"/>
                <a:ea typeface="Marcellus Light" pitchFamily="34" charset="-122"/>
                <a:cs typeface="Marcellus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7428548" y="5334953"/>
            <a:ext cx="6408063" cy="30480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19" name="Text 17"/>
          <p:cNvSpPr/>
          <p:nvPr/>
        </p:nvSpPr>
        <p:spPr>
          <a:xfrm>
            <a:off x="7428548" y="5509260"/>
            <a:ext cx="3915847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 err="1" smtClean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Synthèse</a:t>
            </a:r>
            <a:r>
              <a:rPr lang="en-US" sz="2550" dirty="0" smtClean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&amp; conclusion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7428548" y="6069211"/>
            <a:ext cx="6408063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 err="1" smtClean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Synthèse</a:t>
            </a:r>
            <a:r>
              <a:rPr lang="en-US" sz="1750" dirty="0" smtClean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 atouts majeurs du </a:t>
            </a:r>
            <a:r>
              <a:rPr lang="en-US" sz="1750" dirty="0" err="1" smtClean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</a:t>
            </a:r>
            <a:r>
              <a:rPr lang="en-US" sz="1750" dirty="0" smtClean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et conclusion du </a:t>
            </a:r>
            <a:r>
              <a:rPr lang="en-US" sz="1750" dirty="0" err="1" smtClean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</a:t>
            </a:r>
            <a:r>
              <a:rPr lang="en-US" sz="1750" dirty="0" smtClean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750" dirty="0"/>
          </a:p>
        </p:txBody>
      </p:sp>
      <p:sp>
        <p:nvSpPr>
          <p:cNvPr id="21" name="ZoneTexte 20"/>
          <p:cNvSpPr txBox="1"/>
          <p:nvPr/>
        </p:nvSpPr>
        <p:spPr>
          <a:xfrm>
            <a:off x="129209" y="7762461"/>
            <a:ext cx="357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2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954" y="891540"/>
            <a:ext cx="7588091" cy="1329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000" dirty="0" err="1" smtClean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Contexte</a:t>
            </a:r>
            <a:r>
              <a:rPr lang="en-US" sz="4000" dirty="0" smtClean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et </a:t>
            </a:r>
            <a:r>
              <a:rPr lang="en-US" sz="4000" dirty="0" err="1" smtClean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périmètre</a:t>
            </a:r>
            <a:r>
              <a:rPr lang="en-US" sz="4000" dirty="0" smtClean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: </a:t>
            </a:r>
          </a:p>
          <a:p>
            <a:pPr marL="0" indent="0" algn="l">
              <a:lnSpc>
                <a:spcPts val="5200"/>
              </a:lnSpc>
              <a:buNone/>
            </a:pPr>
            <a:r>
              <a:rPr lang="en-US" sz="3200" dirty="0" err="1" smtClean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Présentation</a:t>
            </a:r>
            <a:r>
              <a:rPr lang="en-US" sz="3200" dirty="0" smtClean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</a:t>
            </a:r>
            <a:r>
              <a:rPr lang="en-US" sz="32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de </a:t>
            </a:r>
            <a:r>
              <a:rPr lang="en-US" sz="3200" dirty="0" err="1" smtClean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l'Entreprise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777954" y="2765227"/>
            <a:ext cx="3522940" cy="498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0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Qui sommes-nous ?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77954" y="3481507"/>
            <a:ext cx="3522940" cy="286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Éditeur de formations spécialisé</a:t>
            </a:r>
            <a:endParaRPr lang="en-US" sz="175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Domaines variés: Musique, Informatique, Jardinage, Cuisine</a:t>
            </a:r>
            <a:endParaRPr lang="en-US" sz="175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Support initial: Livres et kits physiques</a:t>
            </a:r>
            <a:endParaRPr lang="en-US" sz="175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Positionnement: Formations grand public accessibles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4850725" y="2765227"/>
            <a:ext cx="3522940" cy="498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0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Objectif Stratégique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4850725" y="3481507"/>
            <a:ext cx="3522940" cy="142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Développer notre offre de formation en ligne pour toucher une audience plus large et offrir une flexibilité accrue.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4850725" y="5107424"/>
            <a:ext cx="3522940" cy="2002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Plateforme e-learning disponible 24/7</a:t>
            </a:r>
            <a:endParaRPr lang="en-US" sz="175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Accompagner l'apprentissage en autonomie</a:t>
            </a:r>
            <a:endParaRPr lang="en-US" sz="175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Moderniser et diversifier l'accès au savoir</a:t>
            </a:r>
            <a:endParaRPr lang="en-US" sz="1750" dirty="0"/>
          </a:p>
        </p:txBody>
      </p:sp>
      <p:sp>
        <p:nvSpPr>
          <p:cNvPr id="9" name="ZoneTexte 8"/>
          <p:cNvSpPr txBox="1"/>
          <p:nvPr/>
        </p:nvSpPr>
        <p:spPr>
          <a:xfrm>
            <a:off x="129209" y="7762461"/>
            <a:ext cx="357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3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328737"/>
            <a:ext cx="2369820" cy="371832"/>
          </a:xfrm>
          <a:prstGeom prst="roundRect">
            <a:avLst>
              <a:gd name="adj" fmla="val 20497"/>
            </a:avLst>
          </a:prstGeom>
          <a:solidFill>
            <a:srgbClr val="FFE0CC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396722"/>
            <a:ext cx="2097643" cy="235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CAHIER DES CHARGES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791295"/>
            <a:ext cx="8655606" cy="678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Fonctionnalités Clés de la Plateforme</a:t>
            </a:r>
            <a:endParaRPr lang="en-US" sz="4100" dirty="0"/>
          </a:p>
        </p:txBody>
      </p:sp>
      <p:sp>
        <p:nvSpPr>
          <p:cNvPr id="5" name="Text 3"/>
          <p:cNvSpPr/>
          <p:nvPr/>
        </p:nvSpPr>
        <p:spPr>
          <a:xfrm>
            <a:off x="793790" y="3036451"/>
            <a:ext cx="4546878" cy="50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0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Fonctionnalités Utilisateur</a:t>
            </a:r>
            <a:endParaRPr lang="en-US" sz="3050" dirty="0"/>
          </a:p>
        </p:txBody>
      </p:sp>
      <p:sp>
        <p:nvSpPr>
          <p:cNvPr id="6" name="Text 4"/>
          <p:cNvSpPr/>
          <p:nvPr/>
        </p:nvSpPr>
        <p:spPr>
          <a:xfrm>
            <a:off x="793790" y="3771781"/>
            <a:ext cx="6244709" cy="2653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Création de compte:</a:t>
            </a: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avec activation par e-mail</a:t>
            </a:r>
            <a:endParaRPr lang="en-US" sz="17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Connexion sécurisée:</a:t>
            </a: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gestion des rôles (USER/ADMIN)</a:t>
            </a:r>
            <a:endParaRPr lang="en-US" sz="17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Achat:</a:t>
            </a: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cursus complets ou leçons individuelles</a:t>
            </a:r>
            <a:endParaRPr lang="en-US" sz="17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Accès contrôlé:</a:t>
            </a: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aux contenus payants</a:t>
            </a:r>
            <a:endParaRPr lang="en-US" sz="17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Validation progressive:</a:t>
            </a: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des leçons pour un suivi personnalisé</a:t>
            </a:r>
            <a:endParaRPr lang="en-US" sz="17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Certifications automatiques:</a:t>
            </a: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après complétion d'un cursus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3036451"/>
            <a:ext cx="5353764" cy="50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0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Fonctionnalités Administration</a:t>
            </a:r>
            <a:endParaRPr lang="en-US" sz="3050" dirty="0"/>
          </a:p>
        </p:txBody>
      </p:sp>
      <p:sp>
        <p:nvSpPr>
          <p:cNvPr id="8" name="Text 6"/>
          <p:cNvSpPr/>
          <p:nvPr/>
        </p:nvSpPr>
        <p:spPr>
          <a:xfrm>
            <a:off x="7599521" y="3771781"/>
            <a:ext cx="6244709" cy="2064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Gestion des utilisateurs:</a:t>
            </a: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création, modification, suppression</a:t>
            </a:r>
            <a:endParaRPr lang="en-US" sz="17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Gestion des contenus:</a:t>
            </a: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thèmes, cursus, leçons</a:t>
            </a:r>
            <a:endParaRPr lang="en-US" sz="17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Suivi des transactions:</a:t>
            </a: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historique des achats et paiements</a:t>
            </a:r>
            <a:endParaRPr lang="en-US" sz="17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Statistiques:</a:t>
            </a: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vue d'ensemble de l'activité plateforme</a:t>
            </a:r>
            <a:endParaRPr lang="en-US" sz="1750" dirty="0"/>
          </a:p>
        </p:txBody>
      </p:sp>
      <p:sp>
        <p:nvSpPr>
          <p:cNvPr id="9" name="ZoneTexte 8"/>
          <p:cNvSpPr txBox="1"/>
          <p:nvPr/>
        </p:nvSpPr>
        <p:spPr>
          <a:xfrm>
            <a:off x="129209" y="7762461"/>
            <a:ext cx="357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4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2447" y="800338"/>
            <a:ext cx="7631906" cy="1291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39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Stack Technique et Architecture Backend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42447" y="2606040"/>
            <a:ext cx="3552468" cy="484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9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Backend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6242447" y="3296126"/>
            <a:ext cx="3552468" cy="2193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7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PHP 8.2+:</a:t>
            </a:r>
            <a:r>
              <a:rPr lang="en-US" sz="17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Typage strict, Attributs pour robustesse</a:t>
            </a:r>
            <a:endParaRPr lang="en-US" sz="1700" dirty="0"/>
          </a:p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7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Symfony 7.4:</a:t>
            </a:r>
            <a:r>
              <a:rPr lang="en-US" sz="17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Framework MVC pour agilité et structure</a:t>
            </a:r>
            <a:endParaRPr lang="en-US" sz="1700" dirty="0"/>
          </a:p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7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Doctrine ORM:</a:t>
            </a:r>
            <a:r>
              <a:rPr lang="en-US" sz="17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Mapping objet-relationnel, migrations</a:t>
            </a:r>
            <a:endParaRPr lang="en-US" sz="1700" dirty="0"/>
          </a:p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7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MySQL 8.0:</a:t>
            </a:r>
            <a:r>
              <a:rPr lang="en-US" sz="17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Base de données relationnelle performante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329505" y="2606040"/>
            <a:ext cx="3552468" cy="968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9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Frontend &amp; E-Commerce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10329505" y="3780592"/>
            <a:ext cx="3552468" cy="3289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7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Twig:</a:t>
            </a:r>
            <a:r>
              <a:rPr lang="en-US" sz="17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Moteur de templates flexible</a:t>
            </a:r>
            <a:endParaRPr lang="en-US" sz="1700" dirty="0"/>
          </a:p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7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Bootstrap 5.3:</a:t>
            </a:r>
            <a:r>
              <a:rPr lang="en-US" sz="17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Framework CSS pour un design responsive</a:t>
            </a:r>
            <a:endParaRPr lang="en-US" sz="1700" dirty="0"/>
          </a:p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7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Stimulus:</a:t>
            </a:r>
            <a:r>
              <a:rPr lang="en-US" sz="17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JavaScript </a:t>
            </a:r>
            <a:r>
              <a:rPr lang="en-US" sz="1700" dirty="0" err="1" smtClean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minimaliste</a:t>
            </a:r>
            <a:endParaRPr lang="en-US" sz="1700" dirty="0" smtClean="0">
              <a:solidFill>
                <a:srgbClr val="67534F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700" b="1" dirty="0" smtClean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Stripe </a:t>
            </a:r>
            <a:r>
              <a:rPr lang="en-US" sz="17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API:</a:t>
            </a:r>
            <a:r>
              <a:rPr lang="en-US" sz="17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(Sandbox) pour les paiements sécurisés</a:t>
            </a:r>
            <a:endParaRPr lang="en-US" sz="1700" dirty="0"/>
          </a:p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7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Webhooks Stripe CLI:</a:t>
            </a:r>
            <a:r>
              <a:rPr lang="en-US" sz="17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pour la gestion asynchrone des paiements</a:t>
            </a:r>
            <a:endParaRPr lang="en-US" sz="1700" dirty="0"/>
          </a:p>
        </p:txBody>
      </p:sp>
      <p:sp>
        <p:nvSpPr>
          <p:cNvPr id="8" name="ZoneTexte 7"/>
          <p:cNvSpPr txBox="1"/>
          <p:nvPr/>
        </p:nvSpPr>
        <p:spPr>
          <a:xfrm>
            <a:off x="129209" y="7762461"/>
            <a:ext cx="357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5</a:t>
            </a:r>
            <a:endParaRPr lang="fr-FR" dirty="0"/>
          </a:p>
        </p:txBody>
      </p:sp>
      <p:sp>
        <p:nvSpPr>
          <p:cNvPr id="9" name="Text 0"/>
          <p:cNvSpPr/>
          <p:nvPr/>
        </p:nvSpPr>
        <p:spPr>
          <a:xfrm>
            <a:off x="308113" y="38895"/>
            <a:ext cx="4929809" cy="1291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3900" dirty="0" smtClean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Conception technique</a:t>
            </a:r>
            <a:endParaRPr lang="en-US" sz="3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14914" y="511016"/>
            <a:ext cx="1343501" cy="269558"/>
          </a:xfrm>
          <a:prstGeom prst="roundRect">
            <a:avLst>
              <a:gd name="adj" fmla="val 22041"/>
            </a:avLst>
          </a:prstGeom>
          <a:solidFill>
            <a:srgbClr val="FFE0CC"/>
          </a:solidFill>
          <a:ln/>
        </p:spPr>
      </p:sp>
      <p:sp>
        <p:nvSpPr>
          <p:cNvPr id="3" name="Text 1"/>
          <p:cNvSpPr/>
          <p:nvPr/>
        </p:nvSpPr>
        <p:spPr>
          <a:xfrm>
            <a:off x="1320998" y="563999"/>
            <a:ext cx="1131332" cy="163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MODÉLISATION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14914" y="835700"/>
            <a:ext cx="7646789" cy="528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2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Hiérarchie des Contenus et Règles Métier</a:t>
            </a:r>
            <a:endParaRPr lang="en-US" sz="3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4914" y="1571030"/>
            <a:ext cx="12200573" cy="55835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151894" y="2275526"/>
            <a:ext cx="2974791" cy="403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Lesson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0151894" y="2774823"/>
            <a:ext cx="2974791" cy="48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Individual instructional unit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503412" y="4110779"/>
            <a:ext cx="2734888" cy="403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00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Course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503412" y="4610076"/>
            <a:ext cx="2734888" cy="48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200"/>
              </a:lnSpc>
              <a:buNone/>
            </a:pPr>
            <a:r>
              <a:rPr lang="en-US" sz="10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Collection of related lessons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0151894" y="5178345"/>
            <a:ext cx="2974791" cy="403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Theme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10151894" y="5677642"/>
            <a:ext cx="2974791" cy="240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Top-level content category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214914" y="7309604"/>
            <a:ext cx="12200573" cy="408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Notre plateforme s'organise autour d'une structure claire: chaque </a:t>
            </a:r>
            <a:r>
              <a:rPr lang="en-US" sz="13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Thème</a:t>
            </a:r>
            <a:r>
              <a:rPr lang="en-US" sz="13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regroupe plusieurs </a:t>
            </a:r>
            <a:r>
              <a:rPr lang="en-US" sz="13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Cursus</a:t>
            </a:r>
            <a:r>
              <a:rPr lang="en-US" sz="13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et chaque </a:t>
            </a:r>
            <a:r>
              <a:rPr lang="en-US" sz="13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Cursus</a:t>
            </a:r>
            <a:r>
              <a:rPr lang="en-US" sz="13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est composé de multiples </a:t>
            </a:r>
            <a:r>
              <a:rPr lang="en-US" sz="13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Leçons</a:t>
            </a:r>
            <a:r>
              <a:rPr lang="en-US" sz="13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La règle métier essentielle est qu'un achat de cursus donne accès à toutes les leçons qu'il contient.</a:t>
            </a:r>
            <a:endParaRPr lang="en-US" sz="1350" dirty="0"/>
          </a:p>
        </p:txBody>
      </p:sp>
      <p:sp>
        <p:nvSpPr>
          <p:cNvPr id="13" name="ZoneTexte 12"/>
          <p:cNvSpPr txBox="1"/>
          <p:nvPr/>
        </p:nvSpPr>
        <p:spPr>
          <a:xfrm>
            <a:off x="129209" y="7762461"/>
            <a:ext cx="357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6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87604" y="614839"/>
            <a:ext cx="1475184" cy="238125"/>
          </a:xfrm>
          <a:prstGeom prst="roundRect">
            <a:avLst>
              <a:gd name="adj" fmla="val 22607"/>
            </a:avLst>
          </a:prstGeom>
          <a:solidFill>
            <a:srgbClr val="FFE0CC"/>
          </a:solidFill>
          <a:ln/>
        </p:spPr>
      </p:sp>
      <p:sp>
        <p:nvSpPr>
          <p:cNvPr id="3" name="Text 1"/>
          <p:cNvSpPr/>
          <p:nvPr/>
        </p:nvSpPr>
        <p:spPr>
          <a:xfrm>
            <a:off x="1883688" y="662821"/>
            <a:ext cx="1283018" cy="142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 DE DONNÉES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7604" y="898208"/>
            <a:ext cx="8854321" cy="478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29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Conception du Schéma Relationnel et Doctrine ORM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787604" y="1659969"/>
            <a:ext cx="3008352" cy="359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Diagramme Relationnel </a:t>
            </a:r>
            <a:endParaRPr lang="en-US" sz="2150" dirty="0"/>
          </a:p>
        </p:txBody>
      </p:sp>
      <p:sp>
        <p:nvSpPr>
          <p:cNvPr id="6" name="Shape 4"/>
          <p:cNvSpPr/>
          <p:nvPr/>
        </p:nvSpPr>
        <p:spPr>
          <a:xfrm>
            <a:off x="1787604" y="2146459"/>
            <a:ext cx="7048976" cy="417909"/>
          </a:xfrm>
          <a:prstGeom prst="roundRect">
            <a:avLst>
              <a:gd name="adj" fmla="val 16102"/>
            </a:avLst>
          </a:prstGeom>
          <a:solidFill>
            <a:srgbClr val="F2F2E7"/>
          </a:solidFill>
          <a:ln/>
        </p:spPr>
      </p:sp>
      <p:sp>
        <p:nvSpPr>
          <p:cNvPr id="7" name="Shape 5"/>
          <p:cNvSpPr/>
          <p:nvPr/>
        </p:nvSpPr>
        <p:spPr>
          <a:xfrm>
            <a:off x="1779627" y="2146459"/>
            <a:ext cx="7064931" cy="417909"/>
          </a:xfrm>
          <a:prstGeom prst="roundRect">
            <a:avLst>
              <a:gd name="adj" fmla="val 5751"/>
            </a:avLst>
          </a:prstGeom>
          <a:solidFill>
            <a:srgbClr val="F2F2E7"/>
          </a:solidFill>
          <a:ln/>
        </p:spPr>
      </p:sp>
      <p:sp>
        <p:nvSpPr>
          <p:cNvPr id="8" name="Text 6"/>
          <p:cNvSpPr/>
          <p:nvPr/>
        </p:nvSpPr>
        <p:spPr>
          <a:xfrm>
            <a:off x="1939766" y="2266593"/>
            <a:ext cx="6744653" cy="177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endParaRPr lang="en-US" sz="12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7604" y="2691646"/>
            <a:ext cx="5847874" cy="479571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234964" y="1659969"/>
            <a:ext cx="2763679" cy="359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Doctrine ORM</a:t>
            </a:r>
            <a:endParaRPr lang="en-US" sz="2150" dirty="0"/>
          </a:p>
        </p:txBody>
      </p:sp>
      <p:sp>
        <p:nvSpPr>
          <p:cNvPr id="11" name="Text 8"/>
          <p:cNvSpPr/>
          <p:nvPr/>
        </p:nvSpPr>
        <p:spPr>
          <a:xfrm>
            <a:off x="9234964" y="2132290"/>
            <a:ext cx="3615214" cy="532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Utilisation de Doctrine ORM pour une gestion efficace et automatisée de la persistance des </a:t>
            </a:r>
            <a:r>
              <a:rPr lang="en-US" sz="1250" dirty="0" err="1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données</a:t>
            </a:r>
            <a:r>
              <a:rPr lang="en-US" sz="1250" dirty="0" smtClean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</a:p>
          <a:p>
            <a:pPr marL="0" indent="0" algn="l">
              <a:lnSpc>
                <a:spcPts val="1350"/>
              </a:lnSpc>
              <a:buNone/>
            </a:pP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234964" y="3005552"/>
            <a:ext cx="3615214" cy="106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2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Mapping Objet-Relationnel:</a:t>
            </a: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Simplifie l'interaction avec la BDD</a:t>
            </a:r>
            <a:r>
              <a:rPr lang="en-US" sz="1250" dirty="0" smtClean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</a:p>
          <a:p>
            <a:pPr marL="342900" indent="-342900" algn="l">
              <a:lnSpc>
                <a:spcPts val="1350"/>
              </a:lnSpc>
              <a:buSzPct val="100000"/>
              <a:buChar char="•"/>
            </a:pPr>
            <a:endParaRPr lang="en-US" sz="1250" dirty="0"/>
          </a:p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2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Génération de Migrations:</a:t>
            </a: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Pour des évolutions de schéma </a:t>
            </a:r>
            <a:r>
              <a:rPr lang="en-US" sz="1250" dirty="0" err="1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contrôlées</a:t>
            </a:r>
            <a:r>
              <a:rPr lang="en-US" sz="1250" dirty="0" smtClean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</a:p>
          <a:p>
            <a:pPr marL="342900" indent="-342900" algn="l">
              <a:lnSpc>
                <a:spcPts val="1350"/>
              </a:lnSpc>
              <a:buSzPct val="100000"/>
              <a:buChar char="•"/>
            </a:pPr>
            <a:endParaRPr lang="en-US" sz="1250" dirty="0"/>
          </a:p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2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Optimisations intégrées:</a:t>
            </a: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Lazy et Eager Loading pour des requêtes performantes.</a:t>
            </a:r>
            <a:endParaRPr lang="en-US" sz="1250" dirty="0"/>
          </a:p>
        </p:txBody>
      </p:sp>
      <p:sp>
        <p:nvSpPr>
          <p:cNvPr id="13" name="ZoneTexte 12"/>
          <p:cNvSpPr txBox="1"/>
          <p:nvPr/>
        </p:nvSpPr>
        <p:spPr>
          <a:xfrm>
            <a:off x="129209" y="7762461"/>
            <a:ext cx="357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7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87604" y="614839"/>
            <a:ext cx="1475184" cy="238125"/>
          </a:xfrm>
          <a:prstGeom prst="roundRect">
            <a:avLst>
              <a:gd name="adj" fmla="val 22607"/>
            </a:avLst>
          </a:prstGeom>
          <a:solidFill>
            <a:srgbClr val="FFE0CC"/>
          </a:solidFill>
          <a:ln/>
        </p:spPr>
      </p:sp>
      <p:sp>
        <p:nvSpPr>
          <p:cNvPr id="3" name="Text 1"/>
          <p:cNvSpPr/>
          <p:nvPr/>
        </p:nvSpPr>
        <p:spPr>
          <a:xfrm>
            <a:off x="1883688" y="662821"/>
            <a:ext cx="1283018" cy="142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 DE DONNÉES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7604" y="898208"/>
            <a:ext cx="8854321" cy="478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2900" dirty="0" err="1" smtClean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Composants</a:t>
            </a:r>
            <a:r>
              <a:rPr lang="en-US" sz="2900" dirty="0" smtClean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</a:t>
            </a:r>
            <a:r>
              <a:rPr lang="en-US" sz="2900" dirty="0" err="1" smtClean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d’accès</a:t>
            </a:r>
            <a:r>
              <a:rPr lang="en-US" sz="2900" dirty="0" smtClean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aux </a:t>
            </a:r>
            <a:r>
              <a:rPr lang="en-US" sz="2900" dirty="0" err="1" smtClean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données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787604" y="1809946"/>
            <a:ext cx="3008352" cy="359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dirty="0" smtClean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Architecture </a:t>
            </a:r>
            <a:r>
              <a:rPr lang="en-US" sz="2150" dirty="0" err="1" smtClean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principale</a:t>
            </a:r>
            <a:endParaRPr lang="en-US" sz="2150" dirty="0"/>
          </a:p>
        </p:txBody>
      </p:sp>
      <p:sp>
        <p:nvSpPr>
          <p:cNvPr id="6" name="Shape 4"/>
          <p:cNvSpPr/>
          <p:nvPr/>
        </p:nvSpPr>
        <p:spPr>
          <a:xfrm>
            <a:off x="1787604" y="2595681"/>
            <a:ext cx="7048976" cy="417909"/>
          </a:xfrm>
          <a:prstGeom prst="roundRect">
            <a:avLst>
              <a:gd name="adj" fmla="val 16102"/>
            </a:avLst>
          </a:prstGeom>
          <a:solidFill>
            <a:srgbClr val="F2F2E7"/>
          </a:solidFill>
          <a:ln/>
        </p:spPr>
      </p:sp>
      <p:sp>
        <p:nvSpPr>
          <p:cNvPr id="7" name="Shape 5"/>
          <p:cNvSpPr/>
          <p:nvPr/>
        </p:nvSpPr>
        <p:spPr>
          <a:xfrm>
            <a:off x="1779627" y="2146459"/>
            <a:ext cx="7064931" cy="417909"/>
          </a:xfrm>
          <a:prstGeom prst="roundRect">
            <a:avLst>
              <a:gd name="adj" fmla="val 5751"/>
            </a:avLst>
          </a:prstGeom>
          <a:solidFill>
            <a:srgbClr val="F2F2E7"/>
          </a:solidFill>
          <a:ln/>
        </p:spPr>
      </p:sp>
      <p:sp>
        <p:nvSpPr>
          <p:cNvPr id="8" name="Text 6"/>
          <p:cNvSpPr/>
          <p:nvPr/>
        </p:nvSpPr>
        <p:spPr>
          <a:xfrm>
            <a:off x="1939766" y="2266593"/>
            <a:ext cx="6744653" cy="177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568642" y="1805204"/>
            <a:ext cx="2763679" cy="359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dirty="0" err="1" smtClean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Exemple</a:t>
            </a:r>
            <a:endParaRPr lang="en-US" sz="2150" dirty="0"/>
          </a:p>
        </p:txBody>
      </p:sp>
      <p:sp>
        <p:nvSpPr>
          <p:cNvPr id="13" name="Text 8"/>
          <p:cNvSpPr/>
          <p:nvPr/>
        </p:nvSpPr>
        <p:spPr>
          <a:xfrm>
            <a:off x="1787604" y="2374225"/>
            <a:ext cx="3615214" cy="532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250" dirty="0" smtClean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Application du ‘Repository Pattern’</a:t>
            </a:r>
          </a:p>
          <a:p>
            <a:pPr marL="0" indent="0" algn="l">
              <a:lnSpc>
                <a:spcPts val="1350"/>
              </a:lnSpc>
              <a:buNone/>
            </a:pP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1787604" y="3333631"/>
            <a:ext cx="3615214" cy="2350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250" b="1" dirty="0" smtClean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Les ‘Entities’:</a:t>
            </a:r>
            <a:r>
              <a:rPr lang="en-US" sz="1250" dirty="0" smtClean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50" dirty="0" err="1" smtClean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Modèles</a:t>
            </a:r>
            <a:r>
              <a:rPr lang="en-US" sz="1250" dirty="0" smtClean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métier </a:t>
            </a:r>
            <a:r>
              <a:rPr lang="en-US" sz="1250" dirty="0" err="1" smtClean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annotés</a:t>
            </a:r>
            <a:r>
              <a:rPr lang="en-US" sz="1250" dirty="0" smtClean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avec Doctrine.</a:t>
            </a:r>
          </a:p>
          <a:p>
            <a:pPr marL="342900" indent="-342900" algn="l">
              <a:lnSpc>
                <a:spcPts val="1350"/>
              </a:lnSpc>
              <a:buSzPct val="100000"/>
              <a:buChar char="•"/>
            </a:pPr>
            <a:endParaRPr lang="en-US" sz="1250" dirty="0"/>
          </a:p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250" b="1" dirty="0" smtClean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Les ‘Repositories’ :</a:t>
            </a:r>
            <a:r>
              <a:rPr lang="en-US" sz="1250" dirty="0" smtClean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Pour </a:t>
            </a:r>
            <a:r>
              <a:rPr lang="en-US" sz="1250" dirty="0" smtClean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les </a:t>
            </a:r>
            <a:r>
              <a:rPr lang="en-US" sz="1250" dirty="0" err="1" smtClean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requêtes</a:t>
            </a:r>
            <a:r>
              <a:rPr lang="en-US" sz="1250" dirty="0" smtClean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SQL/DQL.</a:t>
            </a:r>
          </a:p>
          <a:p>
            <a:pPr marL="342900" indent="-342900" algn="l">
              <a:lnSpc>
                <a:spcPts val="1350"/>
              </a:lnSpc>
              <a:buSzPct val="100000"/>
              <a:buChar char="•"/>
            </a:pPr>
            <a:endParaRPr lang="en-US" sz="1250" dirty="0"/>
          </a:p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250" b="1" dirty="0" smtClean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Les ‘Services’:</a:t>
            </a:r>
            <a:r>
              <a:rPr lang="en-US" sz="1250" dirty="0" smtClean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50" dirty="0" err="1" smtClean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Logique</a:t>
            </a:r>
            <a:r>
              <a:rPr lang="en-US" sz="1250" dirty="0" smtClean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métier </a:t>
            </a:r>
            <a:r>
              <a:rPr lang="en-US" sz="1250" dirty="0" err="1" smtClean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complèxe</a:t>
            </a:r>
            <a:r>
              <a:rPr lang="en-US" sz="1250" dirty="0" smtClean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</a:p>
          <a:p>
            <a:pPr algn="l">
              <a:lnSpc>
                <a:spcPts val="1350"/>
              </a:lnSpc>
              <a:buSzPct val="100000"/>
            </a:pPr>
            <a:endParaRPr lang="en-US" sz="1250" dirty="0" smtClean="0">
              <a:solidFill>
                <a:srgbClr val="67534F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algn="l">
              <a:lnSpc>
                <a:spcPts val="1350"/>
              </a:lnSpc>
              <a:buSzPct val="100000"/>
            </a:pPr>
            <a:endParaRPr lang="en-US" sz="1250" dirty="0" smtClean="0">
              <a:solidFill>
                <a:srgbClr val="67534F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342900" indent="-342900">
              <a:lnSpc>
                <a:spcPts val="1350"/>
              </a:lnSpc>
              <a:buSzPct val="100000"/>
              <a:buFontTx/>
              <a:buChar char="•"/>
            </a:pPr>
            <a:r>
              <a:rPr lang="en-US" sz="12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Les </a:t>
            </a:r>
            <a:r>
              <a:rPr lang="en-US" sz="1250" b="1" dirty="0" smtClean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‘Controllers’:</a:t>
            </a:r>
            <a:r>
              <a:rPr lang="en-US" sz="1250" dirty="0" smtClean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50" dirty="0" err="1" smtClean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Traite</a:t>
            </a:r>
            <a:r>
              <a:rPr lang="en-US" sz="1250" dirty="0" smtClean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50" dirty="0" err="1" smtClean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l’action</a:t>
            </a:r>
            <a:r>
              <a:rPr lang="en-US" sz="1250" dirty="0" smtClean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</a:t>
            </a:r>
            <a:r>
              <a:rPr lang="en-US" sz="1250" dirty="0" err="1" smtClean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l’utilisateur</a:t>
            </a:r>
            <a:r>
              <a:rPr lang="en-US" sz="1250" dirty="0" smtClean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250" dirty="0">
              <a:solidFill>
                <a:srgbClr val="67534F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342900" indent="-342900" algn="l">
              <a:lnSpc>
                <a:spcPts val="1350"/>
              </a:lnSpc>
              <a:buSzPct val="100000"/>
              <a:buChar char="•"/>
            </a:pPr>
            <a:endParaRPr lang="en-US" sz="1250" dirty="0" smtClean="0">
              <a:solidFill>
                <a:srgbClr val="67534F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</p:txBody>
      </p:sp>
      <p:pic>
        <p:nvPicPr>
          <p:cNvPr id="16" name="Imag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8642" y="2444234"/>
            <a:ext cx="4173324" cy="2542815"/>
          </a:xfrm>
          <a:prstGeom prst="rect">
            <a:avLst/>
          </a:prstGeom>
        </p:spPr>
      </p:pic>
      <p:pic>
        <p:nvPicPr>
          <p:cNvPr id="17" name="Imag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8642" y="5266866"/>
            <a:ext cx="4173324" cy="1811443"/>
          </a:xfrm>
          <a:prstGeom prst="rect">
            <a:avLst/>
          </a:prstGeom>
        </p:spPr>
      </p:pic>
      <p:sp>
        <p:nvSpPr>
          <p:cNvPr id="18" name="ZoneTexte 17"/>
          <p:cNvSpPr txBox="1"/>
          <p:nvPr/>
        </p:nvSpPr>
        <p:spPr>
          <a:xfrm>
            <a:off x="129209" y="7762461"/>
            <a:ext cx="357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8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54271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900451"/>
            <a:ext cx="2663071" cy="371832"/>
          </a:xfrm>
          <a:prstGeom prst="roundRect">
            <a:avLst>
              <a:gd name="adj" fmla="val 20497"/>
            </a:avLst>
          </a:prstGeom>
          <a:solidFill>
            <a:srgbClr val="FFE0CC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968435"/>
            <a:ext cx="2390894" cy="235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GESTION DES PAIEMENTS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334562"/>
            <a:ext cx="11726942" cy="678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36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Intégration de Stripe Checkout en mode Sandbox</a:t>
            </a:r>
            <a:endParaRPr lang="en-US" sz="3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370058"/>
            <a:ext cx="8284131" cy="497038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38943" y="2446853"/>
            <a:ext cx="3951327" cy="50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0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Flux d'achat utilisateur</a:t>
            </a:r>
            <a:endParaRPr lang="en-US" sz="3050" dirty="0"/>
          </a:p>
        </p:txBody>
      </p:sp>
      <p:sp>
        <p:nvSpPr>
          <p:cNvPr id="7" name="Text 4"/>
          <p:cNvSpPr/>
          <p:nvPr/>
        </p:nvSpPr>
        <p:spPr>
          <a:xfrm>
            <a:off x="9638943" y="3182183"/>
            <a:ext cx="4205168" cy="3833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 "Acheter":</a:t>
            </a: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Vérification du compte activé.</a:t>
            </a:r>
            <a:endParaRPr lang="en-US" sz="17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Session Stripe:</a:t>
            </a: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Création via notre StripeService.</a:t>
            </a:r>
            <a:endParaRPr lang="en-US" sz="17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Redirection:</a:t>
            </a: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Vers la page sécurisée Stripe Checkout.</a:t>
            </a:r>
            <a:endParaRPr lang="en-US" sz="17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Paiement Test:</a:t>
            </a: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Utilisation de la carte 4242 4242 4242 4242.</a:t>
            </a:r>
            <a:endParaRPr lang="en-US" sz="17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Webhook Stripe:</a:t>
            </a: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Déclenchement de la création du Purchase en BDD.</a:t>
            </a:r>
            <a:endParaRPr lang="en-US" sz="17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Redirection Succès:</a:t>
            </a: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Accès immédiat au contenu débloqué.</a:t>
            </a:r>
            <a:endParaRPr lang="en-US" sz="1750" dirty="0"/>
          </a:p>
        </p:txBody>
      </p:sp>
      <p:sp>
        <p:nvSpPr>
          <p:cNvPr id="8" name="ZoneTexte 7"/>
          <p:cNvSpPr txBox="1"/>
          <p:nvPr/>
        </p:nvSpPr>
        <p:spPr>
          <a:xfrm>
            <a:off x="129209" y="7762461"/>
            <a:ext cx="357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9</a:t>
            </a:r>
            <a:endParaRPr lang="fr-FR" dirty="0"/>
          </a:p>
        </p:txBody>
      </p:sp>
      <p:sp>
        <p:nvSpPr>
          <p:cNvPr id="9" name="Text 2"/>
          <p:cNvSpPr/>
          <p:nvPr/>
        </p:nvSpPr>
        <p:spPr>
          <a:xfrm>
            <a:off x="308113" y="43613"/>
            <a:ext cx="5027228" cy="678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100" dirty="0" err="1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Intégration</a:t>
            </a:r>
            <a:r>
              <a:rPr lang="en-US" sz="4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</a:t>
            </a:r>
            <a:r>
              <a:rPr lang="en-US" sz="4100" dirty="0" smtClean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&amp; </a:t>
            </a:r>
            <a:r>
              <a:rPr lang="en-US" sz="4100" dirty="0" err="1" smtClean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Qualité</a:t>
            </a:r>
            <a:endParaRPr lang="en-US" sz="4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563172"/>
            <a:ext cx="2220635" cy="371832"/>
          </a:xfrm>
          <a:prstGeom prst="roundRect">
            <a:avLst>
              <a:gd name="adj" fmla="val 20497"/>
            </a:avLst>
          </a:prstGeom>
          <a:solidFill>
            <a:srgbClr val="FFE0CC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631156"/>
            <a:ext cx="1948458" cy="235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QUALITÉ LOGICIELLE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025729"/>
            <a:ext cx="7157442" cy="678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Stratégie et Résultats des Tests</a:t>
            </a:r>
            <a:endParaRPr lang="en-US" sz="4100" dirty="0"/>
          </a:p>
        </p:txBody>
      </p:sp>
      <p:sp>
        <p:nvSpPr>
          <p:cNvPr id="5" name="Shape 3"/>
          <p:cNvSpPr/>
          <p:nvPr/>
        </p:nvSpPr>
        <p:spPr>
          <a:xfrm>
            <a:off x="793790" y="3384232"/>
            <a:ext cx="4196358" cy="3282077"/>
          </a:xfrm>
          <a:prstGeom prst="roundRect">
            <a:avLst>
              <a:gd name="adj" fmla="val 4458"/>
            </a:avLst>
          </a:prstGeom>
          <a:solidFill>
            <a:srgbClr val="FFFFF4">
              <a:alpha val="9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93790" y="3353753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FF954F"/>
          </a:solidFill>
          <a:ln/>
        </p:spPr>
      </p:sp>
      <p:sp>
        <p:nvSpPr>
          <p:cNvPr id="7" name="Shape 5"/>
          <p:cNvSpPr/>
          <p:nvPr/>
        </p:nvSpPr>
        <p:spPr>
          <a:xfrm>
            <a:off x="2551688" y="3044071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FF954F"/>
          </a:solidFill>
          <a:ln/>
        </p:spPr>
      </p:sp>
      <p:sp>
        <p:nvSpPr>
          <p:cNvPr id="9" name="Text 6"/>
          <p:cNvSpPr/>
          <p:nvPr/>
        </p:nvSpPr>
        <p:spPr>
          <a:xfrm>
            <a:off x="1051084" y="3951208"/>
            <a:ext cx="3568303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Tests Unitaires (PHPUnit)</a:t>
            </a:r>
            <a:endParaRPr lang="en-US" sz="2550" dirty="0"/>
          </a:p>
        </p:txBody>
      </p:sp>
      <p:sp>
        <p:nvSpPr>
          <p:cNvPr id="10" name="Text 7"/>
          <p:cNvSpPr/>
          <p:nvPr/>
        </p:nvSpPr>
        <p:spPr>
          <a:xfrm>
            <a:off x="1051084" y="4511159"/>
            <a:ext cx="3681770" cy="1768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Validation des Services (RegistrationService, PurchaseService) et des Repositories (UserRepository, CourseRepository) en isolant la logique métier.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5216962" y="3384232"/>
            <a:ext cx="4196358" cy="3282077"/>
          </a:xfrm>
          <a:prstGeom prst="roundRect">
            <a:avLst>
              <a:gd name="adj" fmla="val 4458"/>
            </a:avLst>
          </a:prstGeom>
          <a:solidFill>
            <a:srgbClr val="FFFFF4">
              <a:alpha val="95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5216962" y="3353753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FF954F"/>
          </a:solidFill>
          <a:ln/>
        </p:spPr>
      </p:sp>
      <p:sp>
        <p:nvSpPr>
          <p:cNvPr id="13" name="Shape 10"/>
          <p:cNvSpPr/>
          <p:nvPr/>
        </p:nvSpPr>
        <p:spPr>
          <a:xfrm>
            <a:off x="6974860" y="3044071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FF954F"/>
          </a:solidFill>
          <a:ln/>
        </p:spPr>
      </p:sp>
      <p:sp>
        <p:nvSpPr>
          <p:cNvPr id="15" name="Text 11"/>
          <p:cNvSpPr/>
          <p:nvPr/>
        </p:nvSpPr>
        <p:spPr>
          <a:xfrm>
            <a:off x="5474256" y="3951208"/>
            <a:ext cx="3681770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Tests Fonctionnels (WebTestCase)</a:t>
            </a:r>
            <a:endParaRPr lang="en-US" sz="2550" dirty="0"/>
          </a:p>
        </p:txBody>
      </p:sp>
      <p:sp>
        <p:nvSpPr>
          <p:cNvPr id="16" name="Text 12"/>
          <p:cNvSpPr/>
          <p:nvPr/>
        </p:nvSpPr>
        <p:spPr>
          <a:xfrm>
            <a:off x="5474256" y="4935022"/>
            <a:ext cx="3681770" cy="147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Simulation des parcours complets: inscription, connexion, achat (sans paiement réel), vérification des droits d'accès.</a:t>
            </a:r>
            <a:endParaRPr lang="en-US" sz="1750" dirty="0"/>
          </a:p>
        </p:txBody>
      </p:sp>
      <p:sp>
        <p:nvSpPr>
          <p:cNvPr id="17" name="Shape 13"/>
          <p:cNvSpPr/>
          <p:nvPr/>
        </p:nvSpPr>
        <p:spPr>
          <a:xfrm>
            <a:off x="9640133" y="3384232"/>
            <a:ext cx="4196358" cy="3282077"/>
          </a:xfrm>
          <a:prstGeom prst="roundRect">
            <a:avLst>
              <a:gd name="adj" fmla="val 4458"/>
            </a:avLst>
          </a:prstGeom>
          <a:solidFill>
            <a:srgbClr val="FFFFF4">
              <a:alpha val="95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9640133" y="3353753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FF954F"/>
          </a:solidFill>
          <a:ln/>
        </p:spPr>
      </p:sp>
      <p:sp>
        <p:nvSpPr>
          <p:cNvPr id="19" name="Shape 15"/>
          <p:cNvSpPr/>
          <p:nvPr/>
        </p:nvSpPr>
        <p:spPr>
          <a:xfrm>
            <a:off x="11398032" y="3044071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FF954F"/>
          </a:solidFill>
          <a:ln/>
        </p:spPr>
      </p:sp>
      <p:sp>
        <p:nvSpPr>
          <p:cNvPr id="21" name="Text 16"/>
          <p:cNvSpPr/>
          <p:nvPr/>
        </p:nvSpPr>
        <p:spPr>
          <a:xfrm>
            <a:off x="9897427" y="3951208"/>
            <a:ext cx="3404949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Couverture &amp; Résultats</a:t>
            </a:r>
            <a:endParaRPr lang="en-US" sz="2550" dirty="0"/>
          </a:p>
        </p:txBody>
      </p:sp>
      <p:sp>
        <p:nvSpPr>
          <p:cNvPr id="22" name="Text 17"/>
          <p:cNvSpPr/>
          <p:nvPr/>
        </p:nvSpPr>
        <p:spPr>
          <a:xfrm>
            <a:off x="9897427" y="4511159"/>
            <a:ext cx="3681770" cy="147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100%</a:t>
            </a: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des composants critiques testés. </a:t>
            </a:r>
            <a:r>
              <a:rPr lang="en-US" sz="17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31 tests</a:t>
            </a: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unitaires et fonctionnels passent avec succès, garantissant la robustesse de l'application.</a:t>
            </a:r>
            <a:endParaRPr lang="en-US" sz="1750" dirty="0"/>
          </a:p>
        </p:txBody>
      </p:sp>
      <p:sp>
        <p:nvSpPr>
          <p:cNvPr id="23" name="ZoneTexte 22"/>
          <p:cNvSpPr txBox="1"/>
          <p:nvPr/>
        </p:nvSpPr>
        <p:spPr>
          <a:xfrm>
            <a:off x="129209" y="7762461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10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400651"/>
            <a:ext cx="1087279" cy="371832"/>
          </a:xfrm>
          <a:prstGeom prst="roundRect">
            <a:avLst>
              <a:gd name="adj" fmla="val 20497"/>
            </a:avLst>
          </a:prstGeom>
          <a:solidFill>
            <a:srgbClr val="FFE0CC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468636"/>
            <a:ext cx="815102" cy="235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AGENDA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863209"/>
            <a:ext cx="6734651" cy="678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100" dirty="0" err="1" smtClean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Recherches</a:t>
            </a:r>
            <a:r>
              <a:rPr lang="en-US" sz="4100" dirty="0" smtClean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et </a:t>
            </a:r>
            <a:r>
              <a:rPr lang="en-US" sz="4100" dirty="0" err="1" smtClean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défis</a:t>
            </a:r>
            <a:r>
              <a:rPr lang="en-US" sz="4100" dirty="0" smtClean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techniques</a:t>
            </a:r>
            <a:endParaRPr lang="en-US" sz="4100" dirty="0"/>
          </a:p>
        </p:txBody>
      </p:sp>
      <p:sp>
        <p:nvSpPr>
          <p:cNvPr id="6" name="Shape 4"/>
          <p:cNvSpPr/>
          <p:nvPr/>
        </p:nvSpPr>
        <p:spPr>
          <a:xfrm>
            <a:off x="793790" y="3247906"/>
            <a:ext cx="6407944" cy="30480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7" name="Text 5"/>
          <p:cNvSpPr/>
          <p:nvPr/>
        </p:nvSpPr>
        <p:spPr>
          <a:xfrm>
            <a:off x="793790" y="2824043"/>
            <a:ext cx="3311128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 err="1" smtClean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Recherches</a:t>
            </a:r>
            <a:r>
              <a:rPr lang="en-US" sz="2550" dirty="0" smtClean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et documentation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793790" y="3530560"/>
            <a:ext cx="6407944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en-US" sz="1750" dirty="0" err="1" smtClean="0">
                <a:solidFill>
                  <a:srgbClr val="67534F"/>
                </a:solidFill>
                <a:latin typeface="Montserrat" pitchFamily="34" charset="0"/>
              </a:rPr>
              <a:t>Symfony</a:t>
            </a:r>
            <a:endParaRPr lang="en-US" sz="1750" dirty="0" smtClean="0">
              <a:solidFill>
                <a:srgbClr val="67534F"/>
              </a:solidFill>
              <a:latin typeface="Montserrat" pitchFamily="34" charset="0"/>
            </a:endParaRPr>
          </a:p>
          <a:p>
            <a:pPr algn="l">
              <a:lnSpc>
                <a:spcPts val="2300"/>
              </a:lnSpc>
            </a:pPr>
            <a:endParaRPr lang="en-US" sz="1750" dirty="0" smtClean="0">
              <a:solidFill>
                <a:srgbClr val="67534F"/>
              </a:solidFill>
              <a:latin typeface="Montserrat" pitchFamily="34" charset="0"/>
            </a:endParaRPr>
          </a:p>
          <a:p>
            <a:pPr marL="285750" indent="-285750" algn="l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en-US" sz="1750" dirty="0" err="1" smtClean="0">
                <a:solidFill>
                  <a:srgbClr val="67534F"/>
                </a:solidFill>
                <a:latin typeface="Montserrat" pitchFamily="34" charset="0"/>
              </a:rPr>
              <a:t>SymfonyCast</a:t>
            </a:r>
            <a:endParaRPr lang="en-US" sz="1750" dirty="0" smtClean="0">
              <a:solidFill>
                <a:srgbClr val="67534F"/>
              </a:solidFill>
              <a:latin typeface="Montserrat" pitchFamily="34" charset="0"/>
            </a:endParaRPr>
          </a:p>
          <a:p>
            <a:pPr marL="285750" indent="-285750" algn="l">
              <a:lnSpc>
                <a:spcPts val="2300"/>
              </a:lnSpc>
              <a:buFont typeface="Arial" panose="020B0604020202020204" pitchFamily="34" charset="0"/>
              <a:buChar char="•"/>
            </a:pPr>
            <a:endParaRPr lang="en-US" sz="1750" dirty="0" smtClean="0">
              <a:solidFill>
                <a:srgbClr val="67534F"/>
              </a:solidFill>
              <a:latin typeface="Montserrat" pitchFamily="34" charset="0"/>
            </a:endParaRPr>
          </a:p>
          <a:p>
            <a:pPr marL="285750" indent="-285750" algn="l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en-US" sz="1750" dirty="0" smtClean="0">
                <a:solidFill>
                  <a:srgbClr val="67534F"/>
                </a:solidFill>
                <a:latin typeface="Montserrat" pitchFamily="34" charset="0"/>
              </a:rPr>
              <a:t>Doctrine</a:t>
            </a:r>
          </a:p>
          <a:p>
            <a:pPr marL="285750" indent="-285750" algn="l">
              <a:lnSpc>
                <a:spcPts val="2300"/>
              </a:lnSpc>
              <a:buFont typeface="Arial" panose="020B0604020202020204" pitchFamily="34" charset="0"/>
              <a:buChar char="•"/>
            </a:pPr>
            <a:endParaRPr lang="en-US" sz="1750" dirty="0" smtClean="0">
              <a:solidFill>
                <a:srgbClr val="67534F"/>
              </a:solidFill>
              <a:latin typeface="Montserrat" pitchFamily="34" charset="0"/>
            </a:endParaRPr>
          </a:p>
          <a:p>
            <a:pPr marL="285750" indent="-285750" algn="l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en-US" sz="1750" dirty="0" err="1" smtClean="0">
                <a:solidFill>
                  <a:srgbClr val="67534F"/>
                </a:solidFill>
                <a:latin typeface="Montserrat" pitchFamily="34" charset="0"/>
              </a:rPr>
              <a:t>PHPUnit</a:t>
            </a:r>
            <a:endParaRPr lang="en-US" sz="1750" dirty="0" smtClean="0">
              <a:solidFill>
                <a:srgbClr val="67534F"/>
              </a:solidFill>
              <a:latin typeface="Montserrat" pitchFamily="34" charset="0"/>
            </a:endParaRPr>
          </a:p>
          <a:p>
            <a:pPr marL="285750" indent="-285750" algn="l">
              <a:lnSpc>
                <a:spcPts val="2300"/>
              </a:lnSpc>
              <a:buFont typeface="Arial" panose="020B0604020202020204" pitchFamily="34" charset="0"/>
              <a:buChar char="•"/>
            </a:pPr>
            <a:endParaRPr lang="en-US" sz="1750" dirty="0" smtClean="0">
              <a:solidFill>
                <a:srgbClr val="67534F"/>
              </a:solidFill>
              <a:latin typeface="Montserrat" pitchFamily="34" charset="0"/>
            </a:endParaRPr>
          </a:p>
          <a:p>
            <a:pPr marL="285750" indent="-285750" algn="l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en-US" sz="1750" dirty="0" smtClean="0">
                <a:solidFill>
                  <a:srgbClr val="67534F"/>
                </a:solidFill>
                <a:latin typeface="Montserrat" pitchFamily="34" charset="0"/>
              </a:rPr>
              <a:t>Stripe API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428548" y="3247906"/>
            <a:ext cx="6408063" cy="30480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11" name="Text 9"/>
          <p:cNvSpPr/>
          <p:nvPr/>
        </p:nvSpPr>
        <p:spPr>
          <a:xfrm>
            <a:off x="7428548" y="2820586"/>
            <a:ext cx="3323630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 err="1" smtClean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Défis</a:t>
            </a:r>
            <a:r>
              <a:rPr lang="en-US" sz="2550" dirty="0" smtClean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techniques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7428547" y="3530560"/>
            <a:ext cx="6408063" cy="2552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en-US" sz="1750" dirty="0" smtClean="0">
                <a:latin typeface="Montserrat" panose="020B0604020202020204" charset="0"/>
              </a:rPr>
              <a:t>N+1 Queries</a:t>
            </a:r>
          </a:p>
          <a:p>
            <a:pPr marL="285750" indent="-285750" algn="l">
              <a:lnSpc>
                <a:spcPts val="2300"/>
              </a:lnSpc>
              <a:buFont typeface="Arial" panose="020B0604020202020204" pitchFamily="34" charset="0"/>
              <a:buChar char="•"/>
            </a:pPr>
            <a:endParaRPr lang="en-US" sz="1750" dirty="0" smtClean="0">
              <a:latin typeface="Montserrat" panose="020B0604020202020204" charset="0"/>
            </a:endParaRPr>
          </a:p>
          <a:p>
            <a:pPr marL="285750" indent="-285750" algn="l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en-US" sz="1750" dirty="0" err="1" smtClean="0">
                <a:latin typeface="Montserrat" panose="020B0604020202020204" charset="0"/>
              </a:rPr>
              <a:t>WebHooks</a:t>
            </a:r>
            <a:r>
              <a:rPr lang="en-US" sz="1750" dirty="0" smtClean="0">
                <a:latin typeface="Montserrat" panose="020B0604020202020204" charset="0"/>
              </a:rPr>
              <a:t> Stripe</a:t>
            </a:r>
          </a:p>
          <a:p>
            <a:pPr marL="285750" indent="-285750" algn="l">
              <a:lnSpc>
                <a:spcPts val="2300"/>
              </a:lnSpc>
              <a:buFont typeface="Arial" panose="020B0604020202020204" pitchFamily="34" charset="0"/>
              <a:buChar char="•"/>
            </a:pPr>
            <a:endParaRPr lang="en-US" sz="1750" dirty="0" smtClean="0">
              <a:latin typeface="Montserrat" panose="020B0604020202020204" charset="0"/>
            </a:endParaRPr>
          </a:p>
          <a:p>
            <a:pPr marL="285750" indent="-285750" algn="l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en-US" sz="1750" dirty="0" smtClean="0">
                <a:latin typeface="Montserrat" panose="020B0604020202020204" charset="0"/>
              </a:rPr>
              <a:t>Architecture </a:t>
            </a:r>
            <a:r>
              <a:rPr lang="en-US" sz="1750" dirty="0" err="1" smtClean="0">
                <a:latin typeface="Montserrat" panose="020B0604020202020204" charset="0"/>
              </a:rPr>
              <a:t>moderne</a:t>
            </a:r>
            <a:endParaRPr lang="en-US" sz="1750" dirty="0" smtClean="0">
              <a:latin typeface="Montserrat" panose="020B0604020202020204" charset="0"/>
            </a:endParaRPr>
          </a:p>
          <a:p>
            <a:pPr marL="285750" indent="-285750" algn="l">
              <a:lnSpc>
                <a:spcPts val="2300"/>
              </a:lnSpc>
              <a:buFont typeface="Arial" panose="020B0604020202020204" pitchFamily="34" charset="0"/>
              <a:buChar char="•"/>
            </a:pPr>
            <a:endParaRPr lang="en-US" sz="1750" dirty="0" smtClean="0">
              <a:latin typeface="Montserrat" panose="020B0604020202020204" charset="0"/>
            </a:endParaRPr>
          </a:p>
          <a:p>
            <a:pPr marL="285750" indent="-285750" algn="l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en-US" sz="1750" dirty="0" err="1" smtClean="0">
                <a:latin typeface="Montserrat" panose="020B0604020202020204" charset="0"/>
              </a:rPr>
              <a:t>Sécurité</a:t>
            </a:r>
            <a:endParaRPr lang="en-US" sz="1750" dirty="0">
              <a:latin typeface="Montserrat" panose="020B0604020202020204" charset="0"/>
            </a:endParaRPr>
          </a:p>
        </p:txBody>
      </p:sp>
      <p:sp>
        <p:nvSpPr>
          <p:cNvPr id="22" name="ZoneTexte 21"/>
          <p:cNvSpPr txBox="1"/>
          <p:nvPr/>
        </p:nvSpPr>
        <p:spPr>
          <a:xfrm>
            <a:off x="129208" y="7762461"/>
            <a:ext cx="487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11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23428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6514" y="822841"/>
            <a:ext cx="7342703" cy="574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450" dirty="0" err="1" smtClean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Synthèse</a:t>
            </a:r>
            <a:r>
              <a:rPr lang="en-US" sz="3450" dirty="0" smtClean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du </a:t>
            </a:r>
            <a:r>
              <a:rPr lang="en-US" sz="3450" dirty="0" err="1" smtClean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Projet</a:t>
            </a:r>
            <a:r>
              <a:rPr lang="en-US" sz="3450" dirty="0" smtClean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&amp; </a:t>
            </a:r>
            <a:r>
              <a:rPr lang="en-US" sz="3450" dirty="0" err="1" smtClean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Atouts</a:t>
            </a:r>
            <a:r>
              <a:rPr lang="en-US" sz="3450" dirty="0" smtClean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</a:t>
            </a:r>
            <a:r>
              <a:rPr lang="en-US" sz="3450" dirty="0" err="1" smtClean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Majeurs</a:t>
            </a:r>
            <a:endParaRPr lang="en-US" sz="3450" dirty="0"/>
          </a:p>
        </p:txBody>
      </p:sp>
      <p:sp>
        <p:nvSpPr>
          <p:cNvPr id="3" name="Shape 1"/>
          <p:cNvSpPr/>
          <p:nvPr/>
        </p:nvSpPr>
        <p:spPr>
          <a:xfrm>
            <a:off x="686514" y="1722715"/>
            <a:ext cx="13257371" cy="1347788"/>
          </a:xfrm>
          <a:prstGeom prst="roundRect">
            <a:avLst>
              <a:gd name="adj" fmla="val 5987"/>
            </a:avLst>
          </a:prstGeom>
          <a:solidFill>
            <a:srgbClr val="FFFFF4">
              <a:alpha val="95000"/>
            </a:srgbClr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9374" y="1745575"/>
            <a:ext cx="768429" cy="1302068"/>
          </a:xfrm>
          <a:prstGeom prst="roundRect">
            <a:avLst>
              <a:gd name="adj" fmla="val 6932"/>
            </a:avLst>
          </a:prstGeom>
          <a:solidFill>
            <a:srgbClr val="FFFFF4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093" y="2252543"/>
            <a:ext cx="288131" cy="28813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0443" y="1937623"/>
            <a:ext cx="2761893" cy="359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Architecture Robuste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1640443" y="2394347"/>
            <a:ext cx="12088535" cy="46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Adoption de l'Action Controller Pattern moderne, Services Readonly (PHP 8.2), DTO avec validation et Repositories optimisés (eager loading).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86514" y="3233142"/>
            <a:ext cx="13257371" cy="1152763"/>
          </a:xfrm>
          <a:prstGeom prst="roundRect">
            <a:avLst>
              <a:gd name="adj" fmla="val 7000"/>
            </a:avLst>
          </a:prstGeom>
          <a:solidFill>
            <a:srgbClr val="FFFFF4">
              <a:alpha val="95000"/>
            </a:srgbClr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09374" y="3256002"/>
            <a:ext cx="768429" cy="1107043"/>
          </a:xfrm>
          <a:prstGeom prst="roundRect">
            <a:avLst>
              <a:gd name="adj" fmla="val 6932"/>
            </a:avLst>
          </a:prstGeom>
          <a:solidFill>
            <a:srgbClr val="FFFFF4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093" y="3665458"/>
            <a:ext cx="288131" cy="28813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40443" y="3448050"/>
            <a:ext cx="2761893" cy="359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Sécurité Avancée</a:t>
            </a:r>
            <a:endParaRPr lang="en-US" sz="2150" dirty="0"/>
          </a:p>
        </p:txBody>
      </p:sp>
      <p:sp>
        <p:nvSpPr>
          <p:cNvPr id="12" name="Text 8"/>
          <p:cNvSpPr/>
          <p:nvPr/>
        </p:nvSpPr>
        <p:spPr>
          <a:xfrm>
            <a:off x="1640443" y="3904774"/>
            <a:ext cx="12088535" cy="230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Validation de mots de passe robuste, protection CSRF native, webhooks Stripe signés et idempotence des paiements assurée.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686514" y="4548545"/>
            <a:ext cx="13257371" cy="1347788"/>
          </a:xfrm>
          <a:prstGeom prst="roundRect">
            <a:avLst>
              <a:gd name="adj" fmla="val 5987"/>
            </a:avLst>
          </a:prstGeom>
          <a:solidFill>
            <a:srgbClr val="FFFFF4">
              <a:alpha val="95000"/>
            </a:srgbClr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09374" y="4571405"/>
            <a:ext cx="768429" cy="1302068"/>
          </a:xfrm>
          <a:prstGeom prst="roundRect">
            <a:avLst>
              <a:gd name="adj" fmla="val 6932"/>
            </a:avLst>
          </a:prstGeom>
          <a:solidFill>
            <a:srgbClr val="FFFFF4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093" y="5078373"/>
            <a:ext cx="288131" cy="28813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40443" y="4763453"/>
            <a:ext cx="2761893" cy="359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Qualité Logicielle</a:t>
            </a:r>
            <a:endParaRPr lang="en-US" sz="2150" dirty="0"/>
          </a:p>
        </p:txBody>
      </p:sp>
      <p:sp>
        <p:nvSpPr>
          <p:cNvPr id="17" name="Text 12"/>
          <p:cNvSpPr/>
          <p:nvPr/>
        </p:nvSpPr>
        <p:spPr>
          <a:xfrm>
            <a:off x="1640443" y="5220176"/>
            <a:ext cx="12088535" cy="46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Code structuré et maintenable, 31 tests unitaires et fonctionnels, documentation complète (3 fichiers README) et fixtures pour démo rapide.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686514" y="6058972"/>
            <a:ext cx="13257371" cy="1347788"/>
          </a:xfrm>
          <a:prstGeom prst="roundRect">
            <a:avLst>
              <a:gd name="adj" fmla="val 5987"/>
            </a:avLst>
          </a:prstGeom>
          <a:solidFill>
            <a:srgbClr val="FFFFF4">
              <a:alpha val="95000"/>
            </a:srgbClr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09374" y="6081832"/>
            <a:ext cx="768429" cy="1302068"/>
          </a:xfrm>
          <a:prstGeom prst="roundRect">
            <a:avLst>
              <a:gd name="adj" fmla="val 6932"/>
            </a:avLst>
          </a:prstGeom>
          <a:solidFill>
            <a:srgbClr val="FFFFF4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093" y="6588800"/>
            <a:ext cx="288131" cy="28813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40443" y="6273879"/>
            <a:ext cx="3282315" cy="359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Originalité &amp; Gamification</a:t>
            </a:r>
            <a:endParaRPr lang="en-US" sz="2150" dirty="0"/>
          </a:p>
        </p:txBody>
      </p:sp>
      <p:sp>
        <p:nvSpPr>
          <p:cNvPr id="22" name="Text 16"/>
          <p:cNvSpPr/>
          <p:nvPr/>
        </p:nvSpPr>
        <p:spPr>
          <a:xfrm>
            <a:off x="1640443" y="6730603"/>
            <a:ext cx="12088535" cy="46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Système de certification automatique, gestion granulaire des accès (cursus/leçon) et validation progressive pour une expérience enrichie.</a:t>
            </a:r>
            <a:endParaRPr lang="en-US" sz="1500" dirty="0"/>
          </a:p>
        </p:txBody>
      </p:sp>
      <p:sp>
        <p:nvSpPr>
          <p:cNvPr id="23" name="ZoneTexte 22"/>
          <p:cNvSpPr txBox="1"/>
          <p:nvPr/>
        </p:nvSpPr>
        <p:spPr>
          <a:xfrm>
            <a:off x="129209" y="7762461"/>
            <a:ext cx="477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12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12566" y="3161952"/>
            <a:ext cx="8481530" cy="881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650"/>
              </a:lnSpc>
            </a:pPr>
            <a:r>
              <a:rPr lang="en-US" sz="4400" dirty="0" smtClean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Merci de </a:t>
            </a:r>
            <a:r>
              <a:rPr lang="en-US" sz="4400" dirty="0" err="1" smtClean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votre</a:t>
            </a:r>
            <a:r>
              <a:rPr lang="en-US" sz="4400" dirty="0" smtClean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attention ! </a:t>
            </a:r>
            <a:endParaRPr lang="en-US" sz="4400" dirty="0"/>
          </a:p>
        </p:txBody>
      </p:sp>
      <p:sp>
        <p:nvSpPr>
          <p:cNvPr id="3" name="ZoneTexte 2"/>
          <p:cNvSpPr txBox="1"/>
          <p:nvPr/>
        </p:nvSpPr>
        <p:spPr>
          <a:xfrm>
            <a:off x="129209" y="7762461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13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56226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835</Words>
  <Application>Microsoft Office PowerPoint</Application>
  <PresentationFormat>Personnalisé</PresentationFormat>
  <Paragraphs>161</Paragraphs>
  <Slides>13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9" baseType="lpstr">
      <vt:lpstr>Marcellus Light</vt:lpstr>
      <vt:lpstr>Marcellus</vt:lpstr>
      <vt:lpstr>Calibri</vt:lpstr>
      <vt:lpstr>Montserrat</vt:lpstr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>Mathieu Paquier</dc:creator>
  <cp:lastModifiedBy>Compte Microsoft</cp:lastModifiedBy>
  <cp:revision>17</cp:revision>
  <dcterms:created xsi:type="dcterms:W3CDTF">2026-02-03T10:50:34Z</dcterms:created>
  <dcterms:modified xsi:type="dcterms:W3CDTF">2026-02-24T09:26:12Z</dcterms:modified>
</cp:coreProperties>
</file>